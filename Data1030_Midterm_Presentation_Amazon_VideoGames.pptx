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8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69554" autoAdjust="0"/>
  </p:normalViewPr>
  <p:slideViewPr>
    <p:cSldViewPr snapToGrid="0" snapToObjects="1">
      <p:cViewPr>
        <p:scale>
          <a:sx n="103" d="100"/>
          <a:sy n="103" d="100"/>
        </p:scale>
        <p:origin x="200" y="-1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AABADE-3B66-4D5D-9B76-565E538BAF69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4409537-3BCB-4FCB-90DC-BF904FFCD434}">
      <dgm:prSet/>
      <dgm:spPr/>
      <dgm:t>
        <a:bodyPr/>
        <a:lstStyle/>
        <a:p>
          <a:r>
            <a:rPr lang="en-US" dirty="0"/>
            <a:t>Scale: 231,780 reviews</a:t>
          </a:r>
        </a:p>
      </dgm:t>
    </dgm:pt>
    <dgm:pt modelId="{4824DB8D-6277-47F3-882F-2DDBCB0A7394}" type="parTrans" cxnId="{A6167AC7-596C-48EA-9ABB-9AEC7E7945B2}">
      <dgm:prSet/>
      <dgm:spPr/>
      <dgm:t>
        <a:bodyPr/>
        <a:lstStyle/>
        <a:p>
          <a:endParaRPr lang="en-US"/>
        </a:p>
      </dgm:t>
    </dgm:pt>
    <dgm:pt modelId="{F945E68C-4EBD-48DA-BFF4-09D2FAEF5FDD}" type="sibTrans" cxnId="{A6167AC7-596C-48EA-9ABB-9AEC7E7945B2}">
      <dgm:prSet/>
      <dgm:spPr/>
      <dgm:t>
        <a:bodyPr/>
        <a:lstStyle/>
        <a:p>
          <a:endParaRPr lang="en-US"/>
        </a:p>
      </dgm:t>
    </dgm:pt>
    <dgm:pt modelId="{A0BC1728-39DF-4448-8D15-3C667B6CEBAC}">
      <dgm:prSet/>
      <dgm:spPr/>
      <dgm:t>
        <a:bodyPr/>
        <a:lstStyle/>
        <a:p>
          <a:r>
            <a:rPr lang="en-US" dirty="0"/>
            <a:t>Fields: </a:t>
          </a:r>
          <a:r>
            <a:rPr lang="en-US" dirty="0" err="1"/>
            <a:t>reviewerID</a:t>
          </a:r>
          <a:r>
            <a:rPr lang="en-US" dirty="0"/>
            <a:t>, </a:t>
          </a:r>
          <a:r>
            <a:rPr lang="en-US" dirty="0" err="1"/>
            <a:t>asin</a:t>
          </a:r>
          <a:r>
            <a:rPr lang="en-US" dirty="0"/>
            <a:t>, rating, </a:t>
          </a:r>
          <a:r>
            <a:rPr lang="en-US" dirty="0" err="1"/>
            <a:t>reviewerName</a:t>
          </a:r>
          <a:r>
            <a:rPr lang="en-US" dirty="0"/>
            <a:t>, helpful, </a:t>
          </a:r>
          <a:r>
            <a:rPr lang="en-US" dirty="0" err="1"/>
            <a:t>reviewText</a:t>
          </a:r>
          <a:r>
            <a:rPr lang="en-US" dirty="0"/>
            <a:t>, Overall, summary, </a:t>
          </a:r>
          <a:r>
            <a:rPr lang="en-US" dirty="0" err="1"/>
            <a:t>reviewTime</a:t>
          </a:r>
          <a:endParaRPr lang="en-US" dirty="0"/>
        </a:p>
      </dgm:t>
    </dgm:pt>
    <dgm:pt modelId="{83DA4ADE-79BC-4584-B5D0-73D711EB2BEF}" type="parTrans" cxnId="{871FA820-A1F9-4FBC-9DDC-A241242FC425}">
      <dgm:prSet/>
      <dgm:spPr/>
      <dgm:t>
        <a:bodyPr/>
        <a:lstStyle/>
        <a:p>
          <a:endParaRPr lang="en-US"/>
        </a:p>
      </dgm:t>
    </dgm:pt>
    <dgm:pt modelId="{A0161FC9-6F6F-4A27-AE41-597E32E40142}" type="sibTrans" cxnId="{871FA820-A1F9-4FBC-9DDC-A241242FC425}">
      <dgm:prSet/>
      <dgm:spPr/>
      <dgm:t>
        <a:bodyPr/>
        <a:lstStyle/>
        <a:p>
          <a:endParaRPr lang="en-US"/>
        </a:p>
      </dgm:t>
    </dgm:pt>
    <dgm:pt modelId="{0EB243CA-9D29-4637-B1DB-806DF7CE6386}">
      <dgm:prSet/>
      <dgm:spPr/>
      <dgm:t>
        <a:bodyPr/>
        <a:lstStyle/>
        <a:p>
          <a:r>
            <a:rPr lang="en-US"/>
            <a:t>Labeling: y=1 if rating ≥4; else 0</a:t>
          </a:r>
        </a:p>
      </dgm:t>
    </dgm:pt>
    <dgm:pt modelId="{A9C50384-E9D6-4913-9447-71BE8C649CB6}" type="parTrans" cxnId="{FE4E096D-6273-4862-904C-D4B2D4CF8032}">
      <dgm:prSet/>
      <dgm:spPr/>
      <dgm:t>
        <a:bodyPr/>
        <a:lstStyle/>
        <a:p>
          <a:endParaRPr lang="en-US"/>
        </a:p>
      </dgm:t>
    </dgm:pt>
    <dgm:pt modelId="{F7C3D388-4E3A-47F7-876D-8DF37F79D171}" type="sibTrans" cxnId="{FE4E096D-6273-4862-904C-D4B2D4CF8032}">
      <dgm:prSet/>
      <dgm:spPr/>
      <dgm:t>
        <a:bodyPr/>
        <a:lstStyle/>
        <a:p>
          <a:endParaRPr lang="en-US"/>
        </a:p>
      </dgm:t>
    </dgm:pt>
    <dgm:pt modelId="{BF0824FA-633D-4AE7-9EFE-6B7973D6306D}">
      <dgm:prSet/>
      <dgm:spPr/>
      <dgm:t>
        <a:bodyPr/>
        <a:lstStyle/>
        <a:p>
          <a:r>
            <a:rPr lang="en-US" dirty="0"/>
            <a:t>Key features planned: sentiment of text; review length; user activity; product avg rating;</a:t>
          </a:r>
        </a:p>
      </dgm:t>
    </dgm:pt>
    <dgm:pt modelId="{FAE9B94A-551C-4E4F-914A-57414984D005}" type="parTrans" cxnId="{18C59E6A-F888-49BB-A077-717392C83D06}">
      <dgm:prSet/>
      <dgm:spPr/>
      <dgm:t>
        <a:bodyPr/>
        <a:lstStyle/>
        <a:p>
          <a:endParaRPr lang="en-US"/>
        </a:p>
      </dgm:t>
    </dgm:pt>
    <dgm:pt modelId="{CE01FFA4-BC50-441D-A403-DF9B9B687A9B}" type="sibTrans" cxnId="{18C59E6A-F888-49BB-A077-717392C83D06}">
      <dgm:prSet/>
      <dgm:spPr/>
      <dgm:t>
        <a:bodyPr/>
        <a:lstStyle/>
        <a:p>
          <a:endParaRPr lang="en-US"/>
        </a:p>
      </dgm:t>
    </dgm:pt>
    <dgm:pt modelId="{41460C31-18BB-46C9-9238-72DAF71D2683}" type="pres">
      <dgm:prSet presAssocID="{E3AABADE-3B66-4D5D-9B76-565E538BAF69}" presName="matrix" presStyleCnt="0">
        <dgm:presLayoutVars>
          <dgm:chMax val="1"/>
          <dgm:dir/>
          <dgm:resizeHandles val="exact"/>
        </dgm:presLayoutVars>
      </dgm:prSet>
      <dgm:spPr/>
    </dgm:pt>
    <dgm:pt modelId="{A10D418F-5E97-4DCD-8596-0DE9B3E6648D}" type="pres">
      <dgm:prSet presAssocID="{E3AABADE-3B66-4D5D-9B76-565E538BAF69}" presName="diamond" presStyleLbl="bgShp" presStyleIdx="0" presStyleCnt="1"/>
      <dgm:spPr/>
    </dgm:pt>
    <dgm:pt modelId="{F306CDD8-376F-43B4-9E8B-ABB19934230C}" type="pres">
      <dgm:prSet presAssocID="{E3AABADE-3B66-4D5D-9B76-565E538BAF6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7A59A44-DCC7-431F-AC44-4C97201DF52E}" type="pres">
      <dgm:prSet presAssocID="{E3AABADE-3B66-4D5D-9B76-565E538BAF6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5304C8C-9A7F-4468-BF7B-09E3C0140156}" type="pres">
      <dgm:prSet presAssocID="{E3AABADE-3B66-4D5D-9B76-565E538BAF6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F0D27B9-21EC-4C97-B3FF-7DF22D14AC92}" type="pres">
      <dgm:prSet presAssocID="{E3AABADE-3B66-4D5D-9B76-565E538BAF6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71FA820-A1F9-4FBC-9DDC-A241242FC425}" srcId="{E3AABADE-3B66-4D5D-9B76-565E538BAF69}" destId="{A0BC1728-39DF-4448-8D15-3C667B6CEBAC}" srcOrd="1" destOrd="0" parTransId="{83DA4ADE-79BC-4584-B5D0-73D711EB2BEF}" sibTransId="{A0161FC9-6F6F-4A27-AE41-597E32E40142}"/>
    <dgm:cxn modelId="{981E8568-E28C-4E39-B65E-D86CFB2E2C92}" type="presOf" srcId="{A0BC1728-39DF-4448-8D15-3C667B6CEBAC}" destId="{37A59A44-DCC7-431F-AC44-4C97201DF52E}" srcOrd="0" destOrd="0" presId="urn:microsoft.com/office/officeart/2005/8/layout/matrix3"/>
    <dgm:cxn modelId="{18C59E6A-F888-49BB-A077-717392C83D06}" srcId="{E3AABADE-3B66-4D5D-9B76-565E538BAF69}" destId="{BF0824FA-633D-4AE7-9EFE-6B7973D6306D}" srcOrd="3" destOrd="0" parTransId="{FAE9B94A-551C-4E4F-914A-57414984D005}" sibTransId="{CE01FFA4-BC50-441D-A403-DF9B9B687A9B}"/>
    <dgm:cxn modelId="{FE4E096D-6273-4862-904C-D4B2D4CF8032}" srcId="{E3AABADE-3B66-4D5D-9B76-565E538BAF69}" destId="{0EB243CA-9D29-4637-B1DB-806DF7CE6386}" srcOrd="2" destOrd="0" parTransId="{A9C50384-E9D6-4913-9447-71BE8C649CB6}" sibTransId="{F7C3D388-4E3A-47F7-876D-8DF37F79D171}"/>
    <dgm:cxn modelId="{9B895052-6D46-4648-A444-391B094D3160}" type="presOf" srcId="{0EB243CA-9D29-4637-B1DB-806DF7CE6386}" destId="{B5304C8C-9A7F-4468-BF7B-09E3C0140156}" srcOrd="0" destOrd="0" presId="urn:microsoft.com/office/officeart/2005/8/layout/matrix3"/>
    <dgm:cxn modelId="{3FE2BD58-EDC6-405C-8437-E67B4B603F25}" type="presOf" srcId="{E3AABADE-3B66-4D5D-9B76-565E538BAF69}" destId="{41460C31-18BB-46C9-9238-72DAF71D2683}" srcOrd="0" destOrd="0" presId="urn:microsoft.com/office/officeart/2005/8/layout/matrix3"/>
    <dgm:cxn modelId="{2FE08F8D-01C1-411B-A713-D942DE258A60}" type="presOf" srcId="{54409537-3BCB-4FCB-90DC-BF904FFCD434}" destId="{F306CDD8-376F-43B4-9E8B-ABB19934230C}" srcOrd="0" destOrd="0" presId="urn:microsoft.com/office/officeart/2005/8/layout/matrix3"/>
    <dgm:cxn modelId="{A486DCAC-7687-46F4-8A6B-ADC07B1D2A02}" type="presOf" srcId="{BF0824FA-633D-4AE7-9EFE-6B7973D6306D}" destId="{4F0D27B9-21EC-4C97-B3FF-7DF22D14AC92}" srcOrd="0" destOrd="0" presId="urn:microsoft.com/office/officeart/2005/8/layout/matrix3"/>
    <dgm:cxn modelId="{A6167AC7-596C-48EA-9ABB-9AEC7E7945B2}" srcId="{E3AABADE-3B66-4D5D-9B76-565E538BAF69}" destId="{54409537-3BCB-4FCB-90DC-BF904FFCD434}" srcOrd="0" destOrd="0" parTransId="{4824DB8D-6277-47F3-882F-2DDBCB0A7394}" sibTransId="{F945E68C-4EBD-48DA-BFF4-09D2FAEF5FDD}"/>
    <dgm:cxn modelId="{8E251696-F9A4-4DE7-A406-4EFF98F6A09C}" type="presParOf" srcId="{41460C31-18BB-46C9-9238-72DAF71D2683}" destId="{A10D418F-5E97-4DCD-8596-0DE9B3E6648D}" srcOrd="0" destOrd="0" presId="urn:microsoft.com/office/officeart/2005/8/layout/matrix3"/>
    <dgm:cxn modelId="{3E2EA0EC-A6E0-4603-BEF5-7BB9E1C02F45}" type="presParOf" srcId="{41460C31-18BB-46C9-9238-72DAF71D2683}" destId="{F306CDD8-376F-43B4-9E8B-ABB19934230C}" srcOrd="1" destOrd="0" presId="urn:microsoft.com/office/officeart/2005/8/layout/matrix3"/>
    <dgm:cxn modelId="{F50B4B32-BF00-495A-9FF6-58F0F4ACE64C}" type="presParOf" srcId="{41460C31-18BB-46C9-9238-72DAF71D2683}" destId="{37A59A44-DCC7-431F-AC44-4C97201DF52E}" srcOrd="2" destOrd="0" presId="urn:microsoft.com/office/officeart/2005/8/layout/matrix3"/>
    <dgm:cxn modelId="{3F038FF5-C751-4F56-90C2-259D8FE3DC62}" type="presParOf" srcId="{41460C31-18BB-46C9-9238-72DAF71D2683}" destId="{B5304C8C-9A7F-4468-BF7B-09E3C0140156}" srcOrd="3" destOrd="0" presId="urn:microsoft.com/office/officeart/2005/8/layout/matrix3"/>
    <dgm:cxn modelId="{EA539800-893C-4291-B116-FED708713545}" type="presParOf" srcId="{41460C31-18BB-46C9-9238-72DAF71D2683}" destId="{4F0D27B9-21EC-4C97-B3FF-7DF22D14AC9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0D418F-5E97-4DCD-8596-0DE9B3E6648D}">
      <dsp:nvSpPr>
        <dsp:cNvPr id="0" name=""/>
        <dsp:cNvSpPr/>
      </dsp:nvSpPr>
      <dsp:spPr>
        <a:xfrm>
          <a:off x="2001533" y="0"/>
          <a:ext cx="4192805" cy="4192805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06CDD8-376F-43B4-9E8B-ABB19934230C}">
      <dsp:nvSpPr>
        <dsp:cNvPr id="0" name=""/>
        <dsp:cNvSpPr/>
      </dsp:nvSpPr>
      <dsp:spPr>
        <a:xfrm>
          <a:off x="2399849" y="398316"/>
          <a:ext cx="1635193" cy="163519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Scale: 231,780 reviews</a:t>
          </a:r>
        </a:p>
      </dsp:txBody>
      <dsp:txXfrm>
        <a:off x="2479673" y="478140"/>
        <a:ext cx="1475545" cy="1475545"/>
      </dsp:txXfrm>
    </dsp:sp>
    <dsp:sp modelId="{37A59A44-DCC7-431F-AC44-4C97201DF52E}">
      <dsp:nvSpPr>
        <dsp:cNvPr id="0" name=""/>
        <dsp:cNvSpPr/>
      </dsp:nvSpPr>
      <dsp:spPr>
        <a:xfrm>
          <a:off x="4160827" y="398316"/>
          <a:ext cx="1635193" cy="163519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Fields: </a:t>
          </a:r>
          <a:r>
            <a:rPr lang="en-US" sz="1400" kern="1200" dirty="0" err="1"/>
            <a:t>reviewerID</a:t>
          </a:r>
          <a:r>
            <a:rPr lang="en-US" sz="1400" kern="1200" dirty="0"/>
            <a:t>, </a:t>
          </a:r>
          <a:r>
            <a:rPr lang="en-US" sz="1400" kern="1200" dirty="0" err="1"/>
            <a:t>asin</a:t>
          </a:r>
          <a:r>
            <a:rPr lang="en-US" sz="1400" kern="1200" dirty="0"/>
            <a:t>, rating, </a:t>
          </a:r>
          <a:r>
            <a:rPr lang="en-US" sz="1400" kern="1200" dirty="0" err="1"/>
            <a:t>reviewerName</a:t>
          </a:r>
          <a:r>
            <a:rPr lang="en-US" sz="1400" kern="1200" dirty="0"/>
            <a:t>, helpful, </a:t>
          </a:r>
          <a:r>
            <a:rPr lang="en-US" sz="1400" kern="1200" dirty="0" err="1"/>
            <a:t>reviewText</a:t>
          </a:r>
          <a:r>
            <a:rPr lang="en-US" sz="1400" kern="1200" dirty="0"/>
            <a:t>, Overall, summary, </a:t>
          </a:r>
          <a:r>
            <a:rPr lang="en-US" sz="1400" kern="1200" dirty="0" err="1"/>
            <a:t>reviewTime</a:t>
          </a:r>
          <a:endParaRPr lang="en-US" sz="1400" kern="1200" dirty="0"/>
        </a:p>
      </dsp:txBody>
      <dsp:txXfrm>
        <a:off x="4240651" y="478140"/>
        <a:ext cx="1475545" cy="1475545"/>
      </dsp:txXfrm>
    </dsp:sp>
    <dsp:sp modelId="{B5304C8C-9A7F-4468-BF7B-09E3C0140156}">
      <dsp:nvSpPr>
        <dsp:cNvPr id="0" name=""/>
        <dsp:cNvSpPr/>
      </dsp:nvSpPr>
      <dsp:spPr>
        <a:xfrm>
          <a:off x="2399849" y="2159294"/>
          <a:ext cx="1635193" cy="163519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Labeling: y=1 if rating ≥4; else 0</a:t>
          </a:r>
        </a:p>
      </dsp:txBody>
      <dsp:txXfrm>
        <a:off x="2479673" y="2239118"/>
        <a:ext cx="1475545" cy="1475545"/>
      </dsp:txXfrm>
    </dsp:sp>
    <dsp:sp modelId="{4F0D27B9-21EC-4C97-B3FF-7DF22D14AC92}">
      <dsp:nvSpPr>
        <dsp:cNvPr id="0" name=""/>
        <dsp:cNvSpPr/>
      </dsp:nvSpPr>
      <dsp:spPr>
        <a:xfrm>
          <a:off x="4160827" y="2159294"/>
          <a:ext cx="1635193" cy="163519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Key features planned: sentiment of text; review length; user activity; product avg rating;</a:t>
          </a:r>
        </a:p>
      </dsp:txBody>
      <dsp:txXfrm>
        <a:off x="4240651" y="2239118"/>
        <a:ext cx="1475545" cy="14755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753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5-core: </a:t>
            </a:r>
            <a:r>
              <a:rPr lang="en-US" altLang="zh-CN" dirty="0"/>
              <a:t>every user has reviewed ≥ 5 games, and every game has ≥ 5 reviewers.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Continue on 5-core: 1. </a:t>
            </a:r>
            <a:r>
              <a:rPr lang="en-US" altLang="zh-CN" dirty="0"/>
              <a:t>removes users or games with very few interactions, makes the </a:t>
            </a:r>
            <a:r>
              <a:rPr lang="en-US" altLang="zh-CN" b="1" dirty="0"/>
              <a:t>dataset denser</a:t>
            </a:r>
            <a:r>
              <a:rPr lang="en-US" altLang="zh-CN" dirty="0"/>
              <a:t> and more statistically reliable. But the model we build won’t generalize perfectly to new users.” 2. </a:t>
            </a:r>
            <a:r>
              <a:rPr lang="en-US" altLang="zh-CN" b="1" dirty="0"/>
              <a:t>Improves computational feasibility.</a:t>
            </a:r>
          </a:p>
          <a:p>
            <a:r>
              <a:rPr lang="en-US" dirty="0"/>
              <a:t>But, 3. </a:t>
            </a:r>
            <a:r>
              <a:rPr lang="en-US" altLang="zh-CN" b="1" dirty="0"/>
              <a:t>Introduces a subtle bias</a:t>
            </a:r>
          </a:p>
          <a:p>
            <a:r>
              <a:rPr lang="en-US" altLang="zh-CN" dirty="0"/>
              <a:t>“But it also biases the data toward </a:t>
            </a:r>
            <a:r>
              <a:rPr lang="en-US" altLang="zh-CN" i="1" dirty="0"/>
              <a:t>active</a:t>
            </a:r>
            <a:r>
              <a:rPr lang="en-US" altLang="zh-CN" dirty="0"/>
              <a:t> users and </a:t>
            </a:r>
            <a:r>
              <a:rPr lang="en-US" altLang="zh-CN" i="1" dirty="0"/>
              <a:t>popular</a:t>
            </a:r>
            <a:r>
              <a:rPr lang="en-US" altLang="zh-CN" dirty="0"/>
              <a:t> items, see EDA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 dirty="0"/>
              <a:t>One of most important figure I need to pay attention to</a:t>
            </a:r>
          </a:p>
          <a:p>
            <a:r>
              <a:rPr lang="en-US" altLang="zh-CN" dirty="0"/>
              <a:t>it could achieve high accuracy by simply predicting ‘positive’ all the time.</a:t>
            </a:r>
            <a:br>
              <a:rPr lang="en-US" altLang="zh-CN" dirty="0"/>
            </a:br>
            <a:r>
              <a:rPr lang="en-US" altLang="zh-CN" dirty="0"/>
              <a:t>To address this, we could use metrics like </a:t>
            </a:r>
            <a:r>
              <a:rPr lang="en-US" altLang="zh-CN" b="1" dirty="0"/>
              <a:t>ROC-AUC and F1-score</a:t>
            </a:r>
            <a:r>
              <a:rPr lang="en-US" altLang="zh-CN" dirty="0"/>
              <a:t> instead of accuracy, and later, consider </a:t>
            </a:r>
            <a:r>
              <a:rPr lang="en-US" altLang="zh-CN" b="1" dirty="0"/>
              <a:t>stratified splits</a:t>
            </a:r>
            <a:r>
              <a:rPr lang="en-US" altLang="zh-CN" dirty="0"/>
              <a:t> or </a:t>
            </a:r>
            <a:r>
              <a:rPr lang="en-US" altLang="zh-CN" b="1" dirty="0"/>
              <a:t>class weighting</a:t>
            </a:r>
            <a:r>
              <a:rPr lang="en-US" altLang="zh-CN" dirty="0"/>
              <a:t> so that the model learns to recognize the minority class.”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 dirty="0"/>
              <a:t>Interestingly, review length in this dataset doesn’t vary much across ratings.</a:t>
            </a:r>
            <a:br>
              <a:rPr lang="en-US" altLang="zh-CN" dirty="0"/>
            </a:br>
            <a:r>
              <a:rPr lang="en-US" altLang="zh-CN" dirty="0"/>
              <a:t>here 5-star reviews are actually a bit shorter on average.</a:t>
            </a:r>
            <a:br>
              <a:rPr lang="en-US" altLang="zh-CN" dirty="0"/>
            </a:br>
            <a:r>
              <a:rPr lang="en-US" altLang="zh-CN" dirty="0"/>
              <a:t>This suggests that satisfied players express approval succinctly, while some negative reviews go into more detail.”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 dirty="0"/>
              <a:t>Unexpectedly, In the Amazon 5-core dataset, each </a:t>
            </a:r>
            <a:r>
              <a:rPr lang="en-US" altLang="zh-CN" b="1" dirty="0"/>
              <a:t>user</a:t>
            </a:r>
            <a:r>
              <a:rPr lang="en-US" altLang="zh-CN" dirty="0"/>
              <a:t> (</a:t>
            </a:r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reviewerID</a:t>
            </a:r>
            <a:r>
              <a:rPr lang="en-US" altLang="zh-CN" dirty="0"/>
              <a:t>) reviews multiple products (</a:t>
            </a:r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asin</a:t>
            </a:r>
            <a:r>
              <a:rPr lang="en-US" altLang="zh-CN" dirty="0"/>
              <a:t>), and each product receives reviews from multiple users.</a:t>
            </a:r>
          </a:p>
          <a:p>
            <a:r>
              <a:rPr lang="en-US" dirty="0"/>
              <a:t>Reviews are not independent. Result in </a:t>
            </a:r>
            <a:r>
              <a:rPr lang="en-US" altLang="zh-CN" dirty="0"/>
              <a:t>unrealistically high validation scores if users overlap between train/test.</a:t>
            </a:r>
          </a:p>
          <a:p>
            <a:endParaRPr lang="en-US" altLang="zh-CN" dirty="0"/>
          </a:p>
          <a:p>
            <a:r>
              <a:rPr lang="en-US" altLang="zh-CN" dirty="0"/>
              <a:t>Top left: </a:t>
            </a:r>
            <a:r>
              <a:rPr lang="en-US" altLang="zh-CN" b="1" dirty="0"/>
              <a:t>splits are user-aware </a:t>
            </a:r>
            <a:r>
              <a:rPr lang="en-US" altLang="zh-CN" dirty="0"/>
              <a:t>to prevent high-active user from dominating the model performance.</a:t>
            </a:r>
          </a:p>
          <a:p>
            <a:r>
              <a:rPr lang="en-US" altLang="zh-CN" dirty="0"/>
              <a:t>Top right: The model will “see” far more data from popular games, </a:t>
            </a:r>
            <a:r>
              <a:rPr lang="en-US" altLang="zh-CN" b="1" dirty="0"/>
              <a:t>biasing it toward well-reviewed titles.</a:t>
            </a:r>
          </a:p>
          <a:p>
            <a:r>
              <a:rPr lang="en-US" dirty="0"/>
              <a:t>Botton-left: </a:t>
            </a:r>
            <a:r>
              <a:rPr lang="en-US" altLang="zh-CN" dirty="0"/>
              <a:t>This </a:t>
            </a:r>
            <a:r>
              <a:rPr lang="en-US" altLang="zh-CN" b="1" dirty="0"/>
              <a:t>user bias</a:t>
            </a:r>
            <a:r>
              <a:rPr lang="en-US" altLang="zh-CN" dirty="0"/>
              <a:t> can distort supervised learning: the model might learn “who rated it” rather than “what was rated.” Reaffirms the need for </a:t>
            </a:r>
            <a:r>
              <a:rPr lang="en-US" altLang="zh-CN" b="1" dirty="0"/>
              <a:t>user-level stratified split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Bottom-right: the model could overfit to product identity rather than textual or feature signals.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 dirty="0"/>
              <a:t>Ensures that the same user never appears in both train and test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Term Frequency (TF):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This measures how frequently a term appears in a specific document. A higher TF indicates a greater importance of that term within that document.</a:t>
            </a: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Inverse Document Frequency (IDF):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This measures how rare or common a term is across the entire corpus of documents. Terms that appear in fewer documents have a higher IDF, suggesting they are more discriminative.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TF-IDF score for a term in a document is the product of its TF and IDF. Range(0-1), which is the probability of a word appearing in the text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16869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at ~5:30–6:00;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200" dirty="0">
                <a:solidFill>
                  <a:srgbClr val="FFFFFF"/>
                </a:solidFill>
              </a:rPr>
              <a:t>Supervised ML for Product </a:t>
            </a:r>
            <a:r>
              <a:rPr lang="en-US" altLang="zh-CN" sz="4200" dirty="0">
                <a:solidFill>
                  <a:srgbClr val="FFFFFF"/>
                </a:solidFill>
              </a:rPr>
              <a:t>Review Feedback</a:t>
            </a:r>
            <a:endParaRPr lang="en-US" sz="4200" dirty="0">
              <a:solidFill>
                <a:srgbClr val="FFFFFF"/>
              </a:solidFill>
            </a:endParaRPr>
          </a:p>
          <a:p>
            <a:pPr algn="l"/>
            <a:r>
              <a:rPr lang="en-US" sz="4200" dirty="0">
                <a:solidFill>
                  <a:srgbClr val="FFFFFF"/>
                </a:solidFill>
              </a:rPr>
              <a:t>(Amazon Video Games 5-core)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 fontScale="92500" lnSpcReduction="20000"/>
          </a:bodyPr>
          <a:lstStyle/>
          <a:p>
            <a:pPr algn="l">
              <a:lnSpc>
                <a:spcPct val="90000"/>
              </a:lnSpc>
            </a:pPr>
            <a:r>
              <a:rPr lang="en-US" sz="2700" dirty="0"/>
              <a:t>Presenter: </a:t>
            </a:r>
            <a:r>
              <a:rPr lang="en-US" sz="2700" dirty="0" err="1"/>
              <a:t>Zhuolun</a:t>
            </a:r>
            <a:r>
              <a:rPr lang="en-US" sz="2700" dirty="0"/>
              <a:t> Wu • Brown University</a:t>
            </a:r>
          </a:p>
          <a:p>
            <a:pPr algn="l">
              <a:lnSpc>
                <a:spcPct val="90000"/>
              </a:lnSpc>
            </a:pPr>
            <a:r>
              <a:rPr lang="en-US" sz="2700" dirty="0"/>
              <a:t>Date: Oct 24, 2025</a:t>
            </a:r>
          </a:p>
          <a:p>
            <a:pPr algn="l">
              <a:lnSpc>
                <a:spcPct val="90000"/>
              </a:lnSpc>
            </a:pPr>
            <a:r>
              <a:rPr lang="en-US" sz="2700" dirty="0"/>
              <a:t>GitHub: https://github.com/jackwu-beep/Data1030-project/tree/main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Intro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2400" dirty="0"/>
              <a:t>Problem: Predict </a:t>
            </a:r>
            <a:r>
              <a:rPr lang="en-US" altLang="zh-CN" sz="2400" dirty="0"/>
              <a:t>user’s rating on the product (1-5)</a:t>
            </a:r>
          </a:p>
          <a:p>
            <a:r>
              <a:rPr lang="en-US" sz="2400" dirty="0"/>
              <a:t>Why it matters: Drives engagement &amp; sales; Helps improve recommender and trust systems</a:t>
            </a:r>
          </a:p>
          <a:p>
            <a:r>
              <a:rPr lang="en-US" sz="2400" dirty="0"/>
              <a:t>Task type: Multi - classification </a:t>
            </a:r>
          </a:p>
          <a:p>
            <a:r>
              <a:rPr lang="en-US" sz="2400" dirty="0"/>
              <a:t>Data source/collection: UCSD Amazon Product Review Data (Video Games 5‑core)</a:t>
            </a:r>
          </a:p>
          <a:p>
            <a:r>
              <a:rPr lang="en-US" sz="2400" dirty="0"/>
              <a:t>Difficulties: Large data; non‑IID (user/product effects). 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Dataset &amp; Labels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3BDB71-DBD4-B9F8-D034-9CC49803BE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903283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432F4-A347-722D-9D45-CC66F390F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4693E8BE-294E-07BE-5940-7677EED742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6499" y="520847"/>
            <a:ext cx="6771002" cy="5816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713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66402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70175"/>
            <a:ext cx="9138997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5265546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001" y="5263483"/>
            <a:ext cx="9143999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5510253"/>
            <a:ext cx="7421963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EDA • Distribution of Ratings</a:t>
            </a:r>
          </a:p>
        </p:txBody>
      </p:sp>
      <p:pic>
        <p:nvPicPr>
          <p:cNvPr id="6" name="Picture 5" descr="A graph of a number of bars&#10;&#10;AI-generated content may be incorrect.">
            <a:extLst>
              <a:ext uri="{FF2B5EF4-FFF2-40B4-BE49-F238E27FC236}">
                <a16:creationId xmlns:a16="http://schemas.microsoft.com/office/drawing/2014/main" id="{155B13D1-3C26-71FC-4717-90F05CFE5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134" y="0"/>
            <a:ext cx="6593733" cy="41210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55192" y="3833199"/>
            <a:ext cx="6249619" cy="11199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 i="1"/>
            </a:pPr>
            <a:r>
              <a:rPr lang="en-US" sz="1700" dirty="0"/>
              <a:t> histogram of ratings (class balance) .</a:t>
            </a:r>
            <a:r>
              <a:rPr lang="en-US" altLang="zh-CN" sz="1700" dirty="0"/>
              <a:t> Ratings Are Strongly Skewed Toward 4–5, indicating</a:t>
            </a:r>
            <a:r>
              <a:rPr lang="en-US" sz="1700" dirty="0"/>
              <a:t> imbalance distribution.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238" y="4230093"/>
            <a:ext cx="3112935" cy="18001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>
              <a:lnSpc>
                <a:spcPct val="90000"/>
              </a:lnSpc>
            </a:pPr>
            <a:endParaRPr lang="en-US" sz="35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816857-57E4-A4AE-D629-10901422A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44" y="505018"/>
            <a:ext cx="8354833" cy="33419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34811" y="4230094"/>
            <a:ext cx="4676451" cy="18001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 i="1"/>
            </a:pPr>
            <a:endParaRPr lang="en-US" sz="17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9143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5" y="6406115"/>
            <a:ext cx="3057523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0C3FD9-C9F2-30E4-6637-06DBD0D68B61}"/>
              </a:ext>
            </a:extLst>
          </p:cNvPr>
          <p:cNvSpPr txBox="1"/>
          <p:nvPr/>
        </p:nvSpPr>
        <p:spPr>
          <a:xfrm>
            <a:off x="5102087" y="4479235"/>
            <a:ext cx="34276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This suggests that satisfied players express approval succinctly, while some negative reviews go into more detail</a:t>
            </a:r>
            <a:endParaRPr lang="zh-CN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A50A3F-DA99-3E6E-1733-265126FDD2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238" y="3832128"/>
            <a:ext cx="4487849" cy="21981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6320122"/>
            <a:ext cx="878606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rPr lang="en-US" altLang="zh-CN" dirty="0"/>
              <a:t>A few power users and popular games dominate reviews; both users and products show rating bias → non-IID dataset</a:t>
            </a:r>
            <a:r>
              <a:rPr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0DAB91-1B43-4FA5-17B5-83902BB16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07793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0120878-2AEA-21B2-F6A3-04B935DA0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19" y="741391"/>
            <a:ext cx="2591866" cy="1616203"/>
          </a:xfrm>
        </p:spPr>
        <p:txBody>
          <a:bodyPr anchor="b">
            <a:normAutofit/>
          </a:bodyPr>
          <a:lstStyle/>
          <a:p>
            <a:r>
              <a:rPr lang="en-US" sz="2800" dirty="0"/>
              <a:t>User-aware Splitting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519" y="2533476"/>
            <a:ext cx="2591866" cy="3447832"/>
          </a:xfrm>
        </p:spPr>
        <p:txBody>
          <a:bodyPr anchor="t">
            <a:normAutofit/>
          </a:bodyPr>
          <a:lstStyle/>
          <a:p>
            <a:r>
              <a:rPr lang="en-US" altLang="zh-CN" sz="1700" dirty="0"/>
              <a:t>Split </a:t>
            </a:r>
            <a:r>
              <a:rPr lang="en-US" altLang="zh-CN" sz="1700" b="1" dirty="0"/>
              <a:t>60 / 20 / 20 by </a:t>
            </a:r>
            <a:r>
              <a:rPr lang="en-US" altLang="zh-CN" sz="1700" b="1" dirty="0" err="1"/>
              <a:t>reviewerID</a:t>
            </a:r>
            <a:r>
              <a:rPr lang="en-US" altLang="zh-CN" sz="1700" dirty="0"/>
              <a:t> using </a:t>
            </a:r>
            <a:r>
              <a:rPr lang="en-US" altLang="zh-CN" sz="1700" dirty="0" err="1"/>
              <a:t>GroupShuffleSplit</a:t>
            </a:r>
            <a:r>
              <a:rPr lang="en-US" altLang="zh-CN" sz="1700" dirty="0"/>
              <a:t>.</a:t>
            </a:r>
          </a:p>
          <a:p>
            <a:r>
              <a:rPr lang="en-US" altLang="zh-CN" sz="1700" dirty="0"/>
              <a:t>Keeps each user’s reviews </a:t>
            </a:r>
            <a:r>
              <a:rPr lang="en-US" altLang="zh-CN" sz="1700" b="1" dirty="0"/>
              <a:t>in one set only.</a:t>
            </a:r>
            <a:endParaRPr lang="en-US" altLang="zh-CN" sz="1700" dirty="0"/>
          </a:p>
          <a:p>
            <a:r>
              <a:rPr lang="en-US" altLang="zh-CN" sz="1700" dirty="0"/>
              <a:t>~230 k reviews to 140K training, 45k test/val.</a:t>
            </a:r>
          </a:p>
          <a:p>
            <a:r>
              <a:rPr lang="en-US" altLang="zh-CN" sz="1800" dirty="0"/>
              <a:t>Label balance preserved after split</a:t>
            </a:r>
            <a:endParaRPr lang="en-US" altLang="zh-CN" sz="1700" dirty="0"/>
          </a:p>
          <a:p>
            <a:pPr marL="0" indent="0">
              <a:buNone/>
            </a:pPr>
            <a:endParaRPr lang="en-US" sz="17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6858000"/>
            <a:chOff x="12068638" y="0"/>
            <a:chExt cx="123362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200A6405-F277-5334-8323-EF1A128E2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891" y="1897274"/>
            <a:ext cx="5159590" cy="24023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92FDD9-53AC-3A50-120D-399D9D43C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98643"/>
            <a:ext cx="3932545" cy="2225532"/>
          </a:xfrm>
        </p:spPr>
        <p:txBody>
          <a:bodyPr anchor="t">
            <a:normAutofit/>
          </a:bodyPr>
          <a:lstStyle/>
          <a:p>
            <a:r>
              <a:rPr lang="en-US" altLang="zh-CN" sz="4900"/>
              <a:t>Cont. Preprocessing</a:t>
            </a:r>
            <a:endParaRPr lang="zh-CN" altLang="en-US" sz="490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16" y="381934"/>
            <a:ext cx="0" cy="647606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4F88D19-C269-4F98-BE6B-CFB6207D3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82806" y="740316"/>
            <a:ext cx="349093" cy="872153"/>
            <a:chOff x="6110408" y="740316"/>
            <a:chExt cx="465458" cy="872153"/>
          </a:xfrm>
        </p:grpSpPr>
        <p:sp>
          <p:nvSpPr>
            <p:cNvPr id="17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5948" y="74031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84728" y="969611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0408" y="14847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FFF44987-7C5C-5AD1-0B1F-C24A57551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4244924"/>
            <a:ext cx="3932543" cy="51123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D3CDA-B2DA-0CFA-2207-E6EF1759F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1781" y="879355"/>
            <a:ext cx="3093569" cy="5120755"/>
          </a:xfrm>
        </p:spPr>
        <p:txBody>
          <a:bodyPr anchor="ctr">
            <a:normAutofit/>
          </a:bodyPr>
          <a:lstStyle/>
          <a:p>
            <a:r>
              <a:rPr lang="en-US" altLang="zh-CN" sz="1700" dirty="0">
                <a:solidFill>
                  <a:schemeClr val="tx1">
                    <a:alpha val="80000"/>
                  </a:schemeClr>
                </a:solidFill>
              </a:rPr>
              <a:t>Derived 9 numeric features + TF-IDF text (10 k vocab).</a:t>
            </a:r>
          </a:p>
          <a:p>
            <a:r>
              <a:rPr lang="en-US" altLang="zh-CN" sz="1700" dirty="0">
                <a:solidFill>
                  <a:schemeClr val="tx1">
                    <a:alpha val="80000"/>
                  </a:schemeClr>
                </a:solidFill>
              </a:rPr>
              <a:t>Engineered features: review length, sentiment, helpfulness, year, month.</a:t>
            </a:r>
          </a:p>
          <a:p>
            <a:r>
              <a:rPr lang="en-US" altLang="zh-CN" sz="1700" dirty="0">
                <a:solidFill>
                  <a:srgbClr val="FF0000">
                    <a:alpha val="80000"/>
                  </a:srgbClr>
                </a:solidFill>
              </a:rPr>
              <a:t>Imputation: </a:t>
            </a:r>
            <a:r>
              <a:rPr lang="en-US" altLang="zh-CN" sz="1700" strike="sngStrike" dirty="0">
                <a:solidFill>
                  <a:srgbClr val="FF0000">
                    <a:alpha val="80000"/>
                  </a:srgbClr>
                </a:solidFill>
              </a:rPr>
              <a:t>median for numeric</a:t>
            </a:r>
            <a:r>
              <a:rPr lang="en-US" altLang="zh-CN" sz="1700" dirty="0">
                <a:solidFill>
                  <a:srgbClr val="FF0000">
                    <a:alpha val="80000"/>
                  </a:srgbClr>
                </a:solidFill>
              </a:rPr>
              <a:t>. Empty string for text. Filled missing values with median, standardized numeric features.</a:t>
            </a:r>
          </a:p>
          <a:p>
            <a:r>
              <a:rPr lang="en-US" altLang="zh-CN" sz="1700" dirty="0">
                <a:solidFill>
                  <a:schemeClr val="tx1">
                    <a:alpha val="80000"/>
                  </a:schemeClr>
                </a:solidFill>
              </a:rPr>
              <a:t>Scaling: </a:t>
            </a:r>
            <a:r>
              <a:rPr lang="en-US" altLang="zh-CN" sz="1700" dirty="0" err="1">
                <a:solidFill>
                  <a:schemeClr val="tx1">
                    <a:alpha val="80000"/>
                  </a:schemeClr>
                </a:solidFill>
              </a:rPr>
              <a:t>StandardScaler</a:t>
            </a:r>
            <a:r>
              <a:rPr lang="en-US" altLang="zh-CN" sz="1700" dirty="0">
                <a:solidFill>
                  <a:schemeClr val="tx1">
                    <a:alpha val="80000"/>
                  </a:schemeClr>
                </a:solidFill>
              </a:rPr>
              <a:t>(); Text: TF-IDF (10 k vocab, 1–2 grams).Combined via </a:t>
            </a:r>
            <a:r>
              <a:rPr lang="en-US" altLang="zh-CN" sz="1700" dirty="0" err="1">
                <a:solidFill>
                  <a:schemeClr val="tx1">
                    <a:alpha val="80000"/>
                  </a:schemeClr>
                </a:solidFill>
              </a:rPr>
              <a:t>ColumnTransformer</a:t>
            </a:r>
            <a:r>
              <a:rPr lang="en-US" altLang="zh-CN" sz="1700" dirty="0">
                <a:solidFill>
                  <a:schemeClr val="tx1">
                    <a:alpha val="80000"/>
                  </a:schemeClr>
                </a:solidFill>
              </a:rPr>
              <a:t> into a single matrix</a:t>
            </a:r>
          </a:p>
          <a:p>
            <a:r>
              <a:rPr lang="en-US" altLang="zh-CN" sz="1700" dirty="0">
                <a:solidFill>
                  <a:schemeClr val="tx1">
                    <a:alpha val="80000"/>
                  </a:schemeClr>
                </a:solidFill>
              </a:rPr>
              <a:t>Combined with TF-IDF → 10 009 total features</a:t>
            </a:r>
          </a:p>
        </p:txBody>
      </p:sp>
    </p:spTree>
    <p:extLst>
      <p:ext uri="{BB962C8B-B14F-4D97-AF65-F5344CB8AC3E}">
        <p14:creationId xmlns:p14="http://schemas.microsoft.com/office/powerpoint/2010/main" val="1599640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1248</TotalTime>
  <Words>798</Words>
  <Application>Microsoft Office PowerPoint</Application>
  <PresentationFormat>On-screen Show (4:3)</PresentationFormat>
  <Paragraphs>52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Supervised ML for Product Review Feedback (Amazon Video Games 5-core)</vt:lpstr>
      <vt:lpstr>Intro</vt:lpstr>
      <vt:lpstr>Dataset &amp; Labels</vt:lpstr>
      <vt:lpstr>PowerPoint Presentation</vt:lpstr>
      <vt:lpstr>EDA • Distribution of Ratings</vt:lpstr>
      <vt:lpstr>PowerPoint Presentation</vt:lpstr>
      <vt:lpstr>PowerPoint Presentation</vt:lpstr>
      <vt:lpstr>User-aware Splitting </vt:lpstr>
      <vt:lpstr>Cont. Preprocessing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吴卓伦</dc:creator>
  <cp:keywords/>
  <dc:description>generated using python-pptx</dc:description>
  <cp:lastModifiedBy>卓伦 吴</cp:lastModifiedBy>
  <cp:revision>17</cp:revision>
  <cp:lastPrinted>2025-10-24T17:09:40Z</cp:lastPrinted>
  <dcterms:created xsi:type="dcterms:W3CDTF">2013-01-27T09:14:16Z</dcterms:created>
  <dcterms:modified xsi:type="dcterms:W3CDTF">2025-12-05T19:50:23Z</dcterms:modified>
  <cp:category/>
</cp:coreProperties>
</file>